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5-minute research overview covering 8 charts on Kenya's VOD landscape, with a focus on Viusasa's strategic opportunity in education and gaming.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not just growing — the composition is shifting toward subscriptions. That's the most important signal for any platform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bubble map is the key visual here. The Viusasa 'sweet spot' box shows it occupies a completely uncontested quadrant.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green cells — those are Viusasa's structural moats. The tech/UX gap (5 vs 10) is the one fixable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Music and comedy dominate but the 35% for educational video is the strategic number. That's the demand signal for the Viusasa Elimu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games + M-Pesa + Citizen Sports content = a natural Viusasa gaming entry point. Don't build games; become the distribution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dual-axis left chart shows both the market size and the consumption behaviour moving together. That's a reliable demand signal, not a projection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VoD business grows steadily but the real story is the new verticals. Gaming overtakes education in absolute revenue by 2029 due to transaction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70-mark threshold line on the chart separates 'act now' from 'monitor'. Three initiatives clear it clearly. Note that M-Pesa (95%) and mobile penetration (89%) mean infrastructure readiness is not a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anchoring the ask: the infrastructure already exists — M-Pesa, mobile, Citizen TV. What's needed is content partnerships, a product team for Elimu, and B2B school sales. The moat is already built; this is about activating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73152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VOD Market Research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Platform Strategy: Education &amp; Gaming Opportunity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Research  ·  March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493008"/>
            <a:ext cx="1920240" cy="1417320"/>
          </a:xfrm>
          <a:prstGeom prst="rect">
            <a:avLst/>
          </a:prstGeom>
          <a:solidFill>
            <a:srgbClr val="1A3C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$120.6M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4224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 Market by 2027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32888" y="3493008"/>
            <a:ext cx="1920240" cy="1417320"/>
          </a:xfrm>
          <a:prstGeom prst="rect">
            <a:avLst/>
          </a:prstGeom>
          <a:solidFill>
            <a:srgbClr val="F582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32888" y="4224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Digital Content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54296" y="3493008"/>
            <a:ext cx="1920240" cy="1417320"/>
          </a:xfrm>
          <a:prstGeom prst="rect">
            <a:avLst/>
          </a:prstGeom>
          <a:solidFill>
            <a:srgbClr val="16A0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$68.4M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54296" y="4224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Education Market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75704" y="3493008"/>
            <a:ext cx="1920240" cy="1417320"/>
          </a:xfrm>
          <a:prstGeom prst="rect">
            <a:avLst/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$153M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75704" y="4224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Revenue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1 — Kenya VoD Market Growth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Volume &amp; User Penetration Forecast  |  Source: Statista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VoD and SVOD revenue growing from $47M (2022) to a forecast $120.6M by 2027. Right panel shows user penetration rising from 23.3% to 28% over the same window.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22402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POINTS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78024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recorded the strongest single-year growth at 25.9%. SVOD is growing faster than total VoD — 16.33% vs 14.96% CAGR — signalling a shift from free to paid consumption.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Kenyans are actively upgrading from free to paid streaming. The SVOD segment will account for 83% of total VoD revenue by 2027.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2 — Platform Market Share &amp; Positioning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SVOD Share + Kenya Positioning Map  |  Source: Omdia, Dataxis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donut: Showmax leads Africa-wide SVOD at 39%, Netflix at 33.5%, others 23.5%. Right bubble map: platforms scored on Kenyan local content vs. affordability.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22402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VIUSASA'S POSITION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478024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is the only platform scoring maximum on both local content (10/10) AND affordability (9/10). Dataxis confirms Viusasa as a top-3 Kenya-specific market leader.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Africa-wide numbers undercount Viusasa. Within Kenya, it is the dominant local platform — in a quadrant no international competitor can enter without abandoning their core model.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3 — Platform Feature Comparison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vs. Showmax vs. Netflix across 7 dimensions  |  Qualitative scores 1–10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0292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914400"/>
            <a:ext cx="1508760" cy="256032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14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548640" cy="256032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914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52360" y="914400"/>
            <a:ext cx="566928" cy="256032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914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19288" y="914400"/>
            <a:ext cx="566928" cy="256032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914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94960" y="1170432"/>
            <a:ext cx="150876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1704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03720" y="1170432"/>
            <a:ext cx="548640" cy="2926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1704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1170432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1704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9288" y="1170432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9288" y="11704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1463040"/>
            <a:ext cx="1508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463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03720" y="1463040"/>
            <a:ext cx="548640" cy="2926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463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1463040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4630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9288" y="1463040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9288" y="14630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1755648"/>
            <a:ext cx="150876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17556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M-Pesa Payment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1755648"/>
            <a:ext cx="548640" cy="2926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755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52360" y="1755648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1755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19288" y="1755648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9288" y="1755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94960" y="2048256"/>
            <a:ext cx="1508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20482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Lang.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03720" y="2048256"/>
            <a:ext cx="548640" cy="2926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0482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52360" y="204825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20482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19288" y="204825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9288" y="20482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2340864"/>
            <a:ext cx="150876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23408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/ UX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03720" y="2340864"/>
            <a:ext cx="54864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23408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52360" y="2340864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2340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19288" y="2340864"/>
            <a:ext cx="566928" cy="2926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19288" y="2340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94960" y="2633472"/>
            <a:ext cx="1508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2633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Size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03720" y="2633472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2633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2633472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2360" y="2633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19288" y="2633472"/>
            <a:ext cx="566928" cy="2926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19288" y="2633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94960" y="2926080"/>
            <a:ext cx="150876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903720" y="2926080"/>
            <a:ext cx="548640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03720" y="2926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52360" y="2926080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52360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019288" y="2926080"/>
            <a:ext cx="566928" cy="2926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19288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wins on the 4 dimensions that matter most in Kenya: local content, price, M-Pesa, and vernacular. Netflix leads only on tech and library — factors Kenyan audiences rank lower.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4 — Content Consumption Patterns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Kenyans watch + platform content mix  |  Source: GWI/DataReportal Q3 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% of Kenyan internet users watching each content type. Right: estimated content mix per platform, stacked to 100%.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011680"/>
            <a:ext cx="59436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0116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Videos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523744"/>
            <a:ext cx="59436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5237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694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035808"/>
            <a:ext cx="59436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0358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081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3547872"/>
            <a:ext cx="594360" cy="384048"/>
          </a:xfrm>
          <a:prstGeom prst="rect">
            <a:avLst/>
          </a:prstGeom>
          <a:solidFill>
            <a:srgbClr val="F58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54787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593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Kenyans already watch educational videos online — yet no VoD platform has structured this demand into a paid product. This is an open market, not a gap.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5 — Kenya Gaming Market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growth, platform split &amp; genre popularity  |  Source: PwC, Ken Research, Mordor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bar: gaming revenue grew from $118M (2021) to $153M (2024), forecast $187M by 2027. Centre pie: mobile dominates at 52%. Right bar: football games most popular.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7772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286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$153M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Gaming 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798064"/>
            <a:ext cx="77724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79806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Gaming Share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310128"/>
            <a:ext cx="77724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3101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355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Gamers Who Spend Money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of Kenyan gamers already spend money on games via M-Pesa microtransactions — the same payment rail Viusasa already runs. The infrastructure is in place.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6 — Kenya Educational Content Market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forecast &amp; demand by content type  |  Source: Statista, KICD, GWI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online education revenue growing from $41M (2022) to $222M by 2029 at 18.41% CAGR, with % of users watching edu. content rising from 27% to 57%. Right: demand index by content type.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432304"/>
            <a:ext cx="3154680" cy="274320"/>
          </a:xfrm>
          <a:prstGeom prst="rect">
            <a:avLst/>
          </a:prstGeom>
          <a:solidFill>
            <a:srgbClr val="E0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432304"/>
            <a:ext cx="2776118" cy="274320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 CBC / K-12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907792"/>
            <a:ext cx="3154680" cy="274320"/>
          </a:xfrm>
          <a:prstGeom prst="rect">
            <a:avLst/>
          </a:prstGeom>
          <a:solidFill>
            <a:srgbClr val="E0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907792"/>
            <a:ext cx="2366010" cy="274320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 Vocational &amp; Coding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3383280"/>
            <a:ext cx="3154680" cy="274320"/>
          </a:xfrm>
          <a:prstGeom prst="rect">
            <a:avLst/>
          </a:prstGeom>
          <a:solidFill>
            <a:srgbClr val="E0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383280"/>
            <a:ext cx="2208276" cy="274320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 Financial Literacy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is the fastest-growing segment in Kenya's digital economy at 18.41% CAGR — faster than VoD or gaming. And the CBC mandate means demand is government-backed and structural.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7 — Revenue Opportunity: TAM/SAM/SOM + 5-Year 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 &amp; Viusasa illustrative projections  |  Sources: Statista, PwC, Ken Research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5-YEAR REVENUE MODEL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52160" y="1207008"/>
            <a:ext cx="502920" cy="320040"/>
          </a:xfrm>
          <a:prstGeom prst="rect">
            <a:avLst/>
          </a:prstGeom>
          <a:solidFill>
            <a:srgbClr val="1A3C6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207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5080" y="1207008"/>
            <a:ext cx="548640" cy="320040"/>
          </a:xfrm>
          <a:prstGeom prst="rect">
            <a:avLst/>
          </a:prstGeom>
          <a:solidFill>
            <a:srgbClr val="1A3C6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07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1207008"/>
            <a:ext cx="548640" cy="320040"/>
          </a:xfrm>
          <a:prstGeom prst="rect">
            <a:avLst/>
          </a:prstGeom>
          <a:solidFill>
            <a:srgbClr val="1A3C6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07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52360" y="1207008"/>
            <a:ext cx="621792" cy="320040"/>
          </a:xfrm>
          <a:prstGeom prst="rect">
            <a:avLst/>
          </a:prstGeom>
          <a:solidFill>
            <a:srgbClr val="1A3C6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207008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74152" y="1207008"/>
            <a:ext cx="566928" cy="320040"/>
          </a:xfrm>
          <a:prstGeom prst="rect">
            <a:avLst/>
          </a:prstGeom>
          <a:solidFill>
            <a:srgbClr val="1A3C6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12070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52160" y="1554480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1554480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1554480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52360" y="1554480"/>
            <a:ext cx="62179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55448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74152" y="1554480"/>
            <a:ext cx="56692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15544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52160" y="1901952"/>
            <a:ext cx="50292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901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1901952"/>
            <a:ext cx="54864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01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03720" y="1901952"/>
            <a:ext cx="54864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1901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52360" y="1901952"/>
            <a:ext cx="621792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74152" y="1901952"/>
            <a:ext cx="566928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74152" y="19019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52160" y="2249424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22494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2249424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2494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2249424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22494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52360" y="2249424"/>
            <a:ext cx="62179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249424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74152" y="2249424"/>
            <a:ext cx="56692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74152" y="224942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2596896"/>
            <a:ext cx="50292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5968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2596896"/>
            <a:ext cx="54864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25968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03720" y="2596896"/>
            <a:ext cx="548640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03720" y="25968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52360" y="2596896"/>
            <a:ext cx="621792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2596896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74152" y="2596896"/>
            <a:ext cx="566928" cy="320040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74152" y="25968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52160" y="2944368"/>
            <a:ext cx="502920" cy="320040"/>
          </a:xfrm>
          <a:prstGeom prst="rect">
            <a:avLst/>
          </a:prstGeom>
          <a:solidFill>
            <a:srgbClr val="F5821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0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55080" y="2944368"/>
            <a:ext cx="548640" cy="320040"/>
          </a:xfrm>
          <a:prstGeom prst="rect">
            <a:avLst/>
          </a:prstGeom>
          <a:solidFill>
            <a:srgbClr val="F5821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03720" y="2944368"/>
            <a:ext cx="548640" cy="320040"/>
          </a:xfrm>
          <a:prstGeom prst="rect">
            <a:avLst/>
          </a:prstGeom>
          <a:solidFill>
            <a:srgbClr val="F5821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52360" y="2944368"/>
            <a:ext cx="621792" cy="320040"/>
          </a:xfrm>
          <a:prstGeom prst="rect">
            <a:avLst/>
          </a:prstGeom>
          <a:solidFill>
            <a:srgbClr val="F5821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2360" y="2944368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074152" y="2944368"/>
            <a:ext cx="566928" cy="320040"/>
          </a:xfrm>
          <a:prstGeom prst="rect">
            <a:avLst/>
          </a:prstGeom>
          <a:solidFill>
            <a:srgbClr val="F5821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74152" y="294436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52160" y="34015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Millions — Illustrative Model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verticals grow Viusasa's total revenue nearly 6× in 5 years — from ~$2.5M to $14.7M — with education and gaming contributing 71% of 2029 revenue.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8 — Strategic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93776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scoring + Kenya digital readiness  |  Source: GWI, CA Kenya, PwC, Safaricom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Image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row: 4 headline KPIs. Bottom left: opportunity scores for 5 Viusasa initiatives. Bottom right: Kenya digital readiness across 6 indicators.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2057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521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Elimu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0920" y="2322576"/>
            <a:ext cx="155448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2322576"/>
            <a:ext cx="1274674" cy="237744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42832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Vocational Pack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2706624"/>
            <a:ext cx="155448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2706624"/>
            <a:ext cx="1212494" cy="237744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42832" y="2670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30540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 Games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3090672"/>
            <a:ext cx="155448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3090672"/>
            <a:ext cx="1165860" cy="237744"/>
          </a:xfrm>
          <a:prstGeom prst="rect">
            <a:avLst/>
          </a:prstGeom>
          <a:solidFill>
            <a:srgbClr val="1A3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2832" y="30540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3438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eSports Stream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3474720"/>
            <a:ext cx="155448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3474720"/>
            <a:ext cx="1088136" cy="237744"/>
          </a:xfrm>
          <a:prstGeom prst="rect">
            <a:avLst/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34381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Hub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3858768"/>
            <a:ext cx="155448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3858768"/>
            <a:ext cx="1010412" cy="237744"/>
          </a:xfrm>
          <a:prstGeom prst="rect">
            <a:avLst/>
          </a:prstGeom>
          <a:solidFill>
            <a:srgbClr val="F58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3822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370832"/>
            <a:ext cx="5486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4370832"/>
            <a:ext cx="8723376" cy="658368"/>
          </a:xfrm>
          <a:prstGeom prst="rect">
            <a:avLst/>
          </a:prstGeom>
          <a:solidFill>
            <a:srgbClr val="FFF3E8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437083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top-scored initiatives (≥75) score HIGH for both market size and Viusasa platform fit. The threshold for investment confidence is met.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658368"/>
          </a:xfrm>
          <a:prstGeom prst="rect">
            <a:avLst/>
          </a:prstGeom>
          <a:solidFill>
            <a:srgbClr val="223A5E"/>
          </a:solidFill>
          <a:ln w="19050">
            <a:solidFill>
              <a:srgbClr val="F58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Viusasa does not need to beat Netflix. It needs to be indispensable to the Kenyan audience Netflix will never fully serve.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2834640" cy="2743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0–6 MONTHS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1993392"/>
            <a:ext cx="2834640" cy="2514600"/>
          </a:xfrm>
          <a:prstGeom prst="rect">
            <a:avLst/>
          </a:prstGeom>
          <a:solidFill>
            <a:srgbClr val="1E3560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0482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Viusasa Elimu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" y="2487168"/>
            <a:ext cx="2633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curriculum content (Grades 4–8) priced at KSh 150/month. Partner with KICD. Vernacular instruction. Simultaneously launch trivia/quiz games tied to Citizen TV shows.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719072"/>
            <a:ext cx="2834640" cy="274320"/>
          </a:xfrm>
          <a:prstGeom prst="rect">
            <a:avLst/>
          </a:prstGeom>
          <a:solidFill>
            <a:srgbClr val="F5821F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·  6–18 MONTHS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72968" y="1993392"/>
            <a:ext cx="2834640" cy="25146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20482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Education + Gaming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82696" y="2487168"/>
            <a:ext cx="2633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school licensing for Viusasa Elimu. Add vocational skills pack. Launch curated game discovery hub (local African games + M-Pesa billing, revenue share model).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719072"/>
            <a:ext cx="283464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·  18–36 MONTHS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63056" y="1993392"/>
            <a:ext cx="2834640" cy="2514600"/>
          </a:xfrm>
          <a:prstGeom prst="rect">
            <a:avLst/>
          </a:prstGeom>
          <a:solidFill>
            <a:srgbClr val="1E3560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0482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eSports + Adult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2487168"/>
            <a:ext cx="2633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Kenyan esports via Citizen TV production infrastructure. Expand to adult vocational packs targeting working professionals. Target $14.7M combined revenue by 2029.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2" cy="6400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Methodology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4297680" cy="7498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32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106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 market volumes, SVOD revenue, user penetration, online education market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581912"/>
            <a:ext cx="4297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36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Africa E&amp;M Outlook 2025–2029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911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OTT revenue, gaming revenue, CAGR benchmarks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386584"/>
            <a:ext cx="4297680" cy="7498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41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 / Global Web Index (Nov 2024)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 willingness (76.5%), online video by type (35% edu.)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191256"/>
            <a:ext cx="4297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Omdia / Variety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SVOD subscriber counts; Showmax vs Netflix market share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995928"/>
            <a:ext cx="4297680" cy="7498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Dataxis OTT Kenya 2024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Kenya-specific platform market leaders: Viusasa, Showmax, Netflix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97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32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 Research (Oct 2025)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1106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mobile gaming &amp; eSports market: $45M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581912"/>
            <a:ext cx="4297680" cy="7498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36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Mordor Intelligence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911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gaming market; Kenya 13.3% CAGR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386584"/>
            <a:ext cx="4297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41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Council 2024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gaming &gt;$1B; 62% of gamers spend money via M-Pesa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191256"/>
            <a:ext cx="4297680" cy="749808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KICD / Kenya Edu. Ministry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mandate, 23,000+ schools digital integration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995928"/>
            <a:ext cx="4297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Techweez / Tech-ish Kenya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pricing, user reviews, local market context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VOD Market Research — Viusasa Strategy</dc:title>
  <dc:subject>PptxGenJS Presentation</dc:subject>
  <dc:creator>PptxGenJS</dc:creator>
  <cp:lastModifiedBy>PptxGenJS</cp:lastModifiedBy>
  <cp:revision>1</cp:revision>
  <dcterms:created xsi:type="dcterms:W3CDTF">2026-03-03T09:01:58Z</dcterms:created>
  <dcterms:modified xsi:type="dcterms:W3CDTF">2026-03-03T09:01:58Z</dcterms:modified>
</cp:coreProperties>
</file>